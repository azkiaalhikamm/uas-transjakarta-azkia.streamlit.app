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43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365760" cy="50337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" name="Shape 2"/>
          <p:cNvSpPr/>
          <p:nvPr/>
        </p:nvSpPr>
        <p:spPr>
          <a:xfrm>
            <a:off x="365760" y="109728"/>
            <a:ext cx="54864" cy="5033772"/>
          </a:xfrm>
          <a:prstGeom prst="rect">
            <a:avLst/>
          </a:prstGeom>
          <a:solidFill>
            <a:srgbClr val="00D4AA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Text 4"/>
          <p:cNvSpPr/>
          <p:nvPr/>
        </p:nvSpPr>
        <p:spPr>
          <a:xfrm>
            <a:off x="914400" y="658368"/>
            <a:ext cx="12801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468880" y="804672"/>
            <a:ext cx="34747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/>
          <p:nvPr/>
        </p:nvSpPr>
        <p:spPr>
          <a:xfrm>
            <a:off x="2468880" y="804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MACHINE LEARNING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170432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Prediksi Jumlah Penumpang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Transjakarta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Machine Learning untuk Mendukung Smart Mobility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944368"/>
            <a:ext cx="5486400" cy="0"/>
          </a:xfrm>
          <a:prstGeom prst="line">
            <a:avLst/>
          </a:prstGeom>
          <a:noFill/>
          <a:ln w="7620">
            <a:solidFill>
              <a:srgbClr val="00D4AA"/>
            </a:solidFill>
            <a:prstDash val="dash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/>
          <p:nvPr/>
        </p:nvSpPr>
        <p:spPr>
          <a:xfrm>
            <a:off x="246888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Azkia Al Hikam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3401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2307033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D4SIKC.3B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Sonty Lena, S.Kom., M.M., M.Kom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4434840"/>
            <a:ext cx="219456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2468880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Exploratory Data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1005840"/>
          </a:xfrm>
          <a:prstGeom prst="rect">
            <a:avLst/>
          </a:prstGeom>
          <a:solidFill>
            <a:srgbClr val="0F3460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Text 4"/>
          <p:cNvSpPr/>
          <p:nvPr/>
        </p:nvSpPr>
        <p:spPr>
          <a:xfrm>
            <a:off x="320040" y="850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37.900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Transaksi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777240"/>
            <a:ext cx="1920240" cy="1005840"/>
          </a:xfrm>
          <a:prstGeom prst="rect">
            <a:avLst/>
          </a:prstGeom>
          <a:solidFill>
            <a:srgbClr val="0F3460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2377440" y="850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Fitur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777240"/>
            <a:ext cx="1920240" cy="1005840"/>
          </a:xfrm>
          <a:prstGeom prst="rect">
            <a:avLst/>
          </a:prstGeom>
          <a:solidFill>
            <a:srgbClr val="0F3460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/>
          <p:nvPr/>
        </p:nvSpPr>
        <p:spPr>
          <a:xfrm>
            <a:off x="4434840" y="850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3484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777240"/>
            <a:ext cx="1920240" cy="1005840"/>
          </a:xfrm>
          <a:prstGeom prst="rect">
            <a:avLst/>
          </a:prstGeom>
          <a:solidFill>
            <a:srgbClr val="0F3460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6492240" y="850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/>
          <p:nvPr/>
        </p:nvSpPr>
        <p:spPr>
          <a:xfrm>
            <a:off x="411480" y="1993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Informasi Dataset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dfTransjakarta.csv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7614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Utama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27614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tapInTime, corridorName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145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31455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jumlah_penumpang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5295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11680" y="35295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day_of_week, is_weekend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913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Baru 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39136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is_peak_hour, month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297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11680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| 20% Test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1920240"/>
            <a:ext cx="43891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617720" y="1993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3 Insight Utama EDA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17720" y="2423160"/>
            <a:ext cx="292608" cy="2926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4" name="Text 32"/>
          <p:cNvSpPr/>
          <p:nvPr/>
        </p:nvSpPr>
        <p:spPr>
          <a:xfrm>
            <a:off x="461772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2404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Ganda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26517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tajam pukul 06-09 (berangkat) &amp; 16-19 (pulang kerja)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136392"/>
            <a:ext cx="292608" cy="2926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8" name="Text 36"/>
          <p:cNvSpPr/>
          <p:nvPr/>
        </p:nvSpPr>
        <p:spPr>
          <a:xfrm>
            <a:off x="461772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Akhir Pekan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33649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negatif is_weekend ↔ jumlah_penumpang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3849624"/>
            <a:ext cx="292608" cy="2926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2" name="Text 40"/>
          <p:cNvSpPr/>
          <p:nvPr/>
        </p:nvSpPr>
        <p:spPr>
          <a:xfrm>
            <a:off x="461772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831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Non-Linear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40782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is_peak_hour lebih kuat dari hour saja → model tree lebih cocok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6" name="Text 44"/>
          <p:cNvSpPr/>
          <p:nvPr/>
        </p:nvSpPr>
        <p:spPr>
          <a:xfrm>
            <a:off x="0" y="49194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D4SIKC.3B  |  Azkia Al Hikam  |  2307033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Metode &amp; Pengembangan dari 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Pengembangan UAS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420624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9456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IQR hapus data ekstrem/noise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3931920" cy="420624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457200" y="16824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is_peak_hour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682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jam sibuk (06-09 &amp; 16-19)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3931920" cy="420624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month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94560" y="2176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seasonal bulanan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3931920" cy="420624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457200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94560" y="2670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sekuensial, kuat untuk non-linear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3931920" cy="420624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/>
          <p:nvPr/>
        </p:nvSpPr>
        <p:spPr>
          <a:xfrm>
            <a:off x="457200" y="3163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Regressor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94560" y="31638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berbasis jarak (k=5)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3931920" cy="420624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9456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otomatis hyperparameter RF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133088"/>
            <a:ext cx="3931920" cy="420624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/>
          <p:nvPr/>
        </p:nvSpPr>
        <p:spPr>
          <a:xfrm>
            <a:off x="457200" y="4151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94560" y="4151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lengkap + login + upload CSV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7680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Alur Pipeline ML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347472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/>
          <p:nvPr/>
        </p:nvSpPr>
        <p:spPr>
          <a:xfrm>
            <a:off x="4663440" y="117043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74920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dfTransjakarta.csv (37.900 baris)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664208"/>
            <a:ext cx="347472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663440" y="166420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jam, hari, is_peak_hour, month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157984"/>
            <a:ext cx="347472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6" name="Text 34"/>
          <p:cNvSpPr/>
          <p:nvPr/>
        </p:nvSpPr>
        <p:spPr>
          <a:xfrm>
            <a:off x="4663440" y="215798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74920" y="2157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74920" y="2359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filtering untuk kurangi noise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651760"/>
            <a:ext cx="347472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0" name="Text 38"/>
          <p:cNvSpPr/>
          <p:nvPr/>
        </p:nvSpPr>
        <p:spPr>
          <a:xfrm>
            <a:off x="4663440" y="265176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7492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74920" y="2852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+ StandardScaler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145536"/>
            <a:ext cx="347472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4" name="Text 42"/>
          <p:cNvSpPr/>
          <p:nvPr/>
        </p:nvSpPr>
        <p:spPr>
          <a:xfrm>
            <a:off x="4663440" y="314553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74920" y="3145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74920" y="33467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Test set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639312"/>
            <a:ext cx="347472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8" name="Text 46"/>
          <p:cNvSpPr/>
          <p:nvPr/>
        </p:nvSpPr>
        <p:spPr>
          <a:xfrm>
            <a:off x="4663440" y="363931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74920" y="3639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5 Model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74920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DT, LR, KNN, Gradient Boosting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4133088"/>
            <a:ext cx="347472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2" name="Text 50"/>
          <p:cNvSpPr/>
          <p:nvPr/>
        </p:nvSpPr>
        <p:spPr>
          <a:xfrm>
            <a:off x="4663440" y="413308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74920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74920" y="4334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hyperparameter RF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6" name="Text 54"/>
          <p:cNvSpPr/>
          <p:nvPr/>
        </p:nvSpPr>
        <p:spPr>
          <a:xfrm>
            <a:off x="0" y="49194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Pengembangan baru di UAS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Evaluasi &amp; Perbandingan Model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5212080" cy="3200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Tuned (Best)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Regressor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749808"/>
            <a:ext cx="3017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7" name="Shape 4"/>
          <p:cNvSpPr/>
          <p:nvPr/>
        </p:nvSpPr>
        <p:spPr>
          <a:xfrm>
            <a:off x="5852160" y="749808"/>
            <a:ext cx="73152" cy="1463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5"/>
          <p:cNvSpPr/>
          <p:nvPr/>
        </p:nvSpPr>
        <p:spPr>
          <a:xfrm>
            <a:off x="6016752" y="804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Model Terbaik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16752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 Tuned (Best)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16752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Optimized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2377440"/>
            <a:ext cx="3017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2" name="Text 9"/>
          <p:cNvSpPr/>
          <p:nvPr/>
        </p:nvSpPr>
        <p:spPr>
          <a:xfrm>
            <a:off x="598932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Mengapa RF Tuned Terbaik?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2788920"/>
            <a:ext cx="118872" cy="1188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1"/>
          <p:cNvSpPr/>
          <p:nvPr/>
        </p:nvSpPr>
        <p:spPr>
          <a:xfrm>
            <a:off x="6126480" y="27432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&amp; MAE terendah dari semua model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43600" y="3026664"/>
            <a:ext cx="118872" cy="1188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3"/>
          <p:cNvSpPr/>
          <p:nvPr/>
        </p:nvSpPr>
        <p:spPr>
          <a:xfrm>
            <a:off x="6126480" y="29809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tertinggi → varians data tertangkap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43600" y="3264408"/>
            <a:ext cx="118872" cy="1188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5"/>
          <p:cNvSpPr/>
          <p:nvPr/>
        </p:nvSpPr>
        <p:spPr>
          <a:xfrm>
            <a:off x="6126480" y="3218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overfitting (ensemble approach)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43600" y="3502152"/>
            <a:ext cx="118872" cy="1188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7"/>
          <p:cNvSpPr/>
          <p:nvPr/>
        </p:nvSpPr>
        <p:spPr>
          <a:xfrm>
            <a:off x="6126480" y="34564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menemukan param optimal otomatis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43600" y="3739896"/>
            <a:ext cx="118872" cy="1188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9"/>
          <p:cNvSpPr/>
          <p:nvPr/>
        </p:nvSpPr>
        <p:spPr>
          <a:xfrm>
            <a:off x="6126480" y="36941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gagal (R²≈0.02) krn non-linear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1"/>
          <p:cNvSpPr/>
          <p:nvPr/>
        </p:nvSpPr>
        <p:spPr>
          <a:xfrm>
            <a:off x="0" y="49194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D4SIKC.3B  |  Azkia Al Hikam  |  2307033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Aplikasi Streamlit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1170432"/>
          </a:xfrm>
          <a:prstGeom prst="rect">
            <a:avLst/>
          </a:prstGeom>
          <a:solidFill>
            <a:srgbClr val="0F3460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484632" y="1316736"/>
            <a:ext cx="502920" cy="502920"/>
          </a:xfrm>
          <a:prstGeom prst="ellipse">
            <a:avLst/>
          </a:prstGeom>
          <a:solidFill>
            <a:srgbClr val="00D4AA">
              <a:alpha val="25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48463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0789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Sederhana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user sebelum akses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(azkia / 2307033)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75304" y="10607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54880" y="987552"/>
            <a:ext cx="4114800" cy="1170432"/>
          </a:xfrm>
          <a:prstGeom prst="rect">
            <a:avLst/>
          </a:prstGeom>
          <a:solidFill>
            <a:srgbClr val="0F3460"/>
          </a:solidFill>
          <a:ln w="635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11"/>
          <p:cNvSpPr/>
          <p:nvPr/>
        </p:nvSpPr>
        <p:spPr>
          <a:xfrm>
            <a:off x="4919472" y="1316736"/>
            <a:ext cx="502920" cy="502920"/>
          </a:xfrm>
          <a:prstGeom prst="ellipse">
            <a:avLst/>
          </a:prstGeom>
          <a:solidFill>
            <a:srgbClr val="00D4AA">
              <a:alpha val="25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/>
          <p:nvPr/>
        </p:nvSpPr>
        <p:spPr>
          <a:xfrm>
            <a:off x="491947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0789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1389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metrik + grafik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per jam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313432"/>
            <a:ext cx="4114800" cy="1170432"/>
          </a:xfrm>
          <a:prstGeom prst="rect">
            <a:avLst/>
          </a:prstGeom>
          <a:solidFill>
            <a:srgbClr val="0F3460"/>
          </a:solidFill>
          <a:ln w="635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6"/>
          <p:cNvSpPr/>
          <p:nvPr/>
        </p:nvSpPr>
        <p:spPr>
          <a:xfrm>
            <a:off x="484632" y="2642616"/>
            <a:ext cx="502920" cy="502920"/>
          </a:xfrm>
          <a:prstGeom prst="ellipse">
            <a:avLst/>
          </a:prstGeom>
          <a:solidFill>
            <a:srgbClr val="00D4AA">
              <a:alpha val="25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84632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404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Prediksi Interaktif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715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jam, hari, koridor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estimasi + rekomendasi armada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313432"/>
            <a:ext cx="4114800" cy="1170432"/>
          </a:xfrm>
          <a:prstGeom prst="rect">
            <a:avLst/>
          </a:prstGeom>
          <a:solidFill>
            <a:srgbClr val="0F3460"/>
          </a:solidFill>
          <a:ln w="635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Shape 21"/>
          <p:cNvSpPr/>
          <p:nvPr/>
        </p:nvSpPr>
        <p:spPr>
          <a:xfrm>
            <a:off x="4919472" y="2642616"/>
            <a:ext cx="502920" cy="502920"/>
          </a:xfrm>
          <a:prstGeom prst="ellipse">
            <a:avLst/>
          </a:prstGeom>
          <a:solidFill>
            <a:srgbClr val="00D4AA">
              <a:alpha val="25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/>
          <p:nvPr/>
        </p:nvSpPr>
        <p:spPr>
          <a:xfrm>
            <a:off x="4919472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404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2715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data + visualisasi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korelasi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4114800" cy="1170432"/>
          </a:xfrm>
          <a:prstGeom prst="rect">
            <a:avLst/>
          </a:prstGeom>
          <a:solidFill>
            <a:srgbClr val="0F3460"/>
          </a:solidFill>
          <a:ln w="635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Shape 26"/>
          <p:cNvSpPr/>
          <p:nvPr/>
        </p:nvSpPr>
        <p:spPr>
          <a:xfrm>
            <a:off x="484632" y="3968496"/>
            <a:ext cx="502920" cy="502920"/>
          </a:xfrm>
          <a:prstGeom prst="ellipse">
            <a:avLst/>
          </a:prstGeom>
          <a:solidFill>
            <a:srgbClr val="00D4AA">
              <a:alpha val="25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9" name="Text 27"/>
          <p:cNvSpPr/>
          <p:nvPr/>
        </p:nvSpPr>
        <p:spPr>
          <a:xfrm>
            <a:off x="484632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3730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Evaluasi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041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&amp; grafik perbandingan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 ML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639312"/>
            <a:ext cx="4114800" cy="1170432"/>
          </a:xfrm>
          <a:prstGeom prst="rect">
            <a:avLst/>
          </a:prstGeom>
          <a:solidFill>
            <a:srgbClr val="0F3460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3" name="Shape 31"/>
          <p:cNvSpPr/>
          <p:nvPr/>
        </p:nvSpPr>
        <p:spPr>
          <a:xfrm>
            <a:off x="4919472" y="3968496"/>
            <a:ext cx="502920" cy="502920"/>
          </a:xfrm>
          <a:prstGeom prst="ellipse">
            <a:avLst/>
          </a:prstGeom>
          <a:solidFill>
            <a:srgbClr val="00D4AA">
              <a:alpha val="25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4" name="Text 32"/>
          <p:cNvSpPr/>
          <p:nvPr/>
        </p:nvSpPr>
        <p:spPr>
          <a:xfrm>
            <a:off x="4919472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32120" y="3730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CSV Batch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4041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massal + download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sebagai CSV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10144" y="37124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0" name="Text 38"/>
          <p:cNvSpPr/>
          <p:nvPr/>
        </p:nvSpPr>
        <p:spPr>
          <a:xfrm>
            <a:off x="502920" y="45902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pip install streamlit  &amp;&amp;  streamlit run app.py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Analisis Smart City &amp; Kesimpulan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73152" cy="12984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438912" y="822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🏙️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4128" y="8412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Membantu Smart City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4128" y="1170432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dynamic dispatching armada bus secara adaptif — penambahan/pengurangan armada berdasarkan prediksi kepadatan per koridor &amp; jam.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73152" cy="12984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/>
          <p:nvPr/>
        </p:nvSpPr>
        <p:spPr>
          <a:xfrm>
            <a:off x="4828032" y="822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13248" y="8412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Manfaat Pemerintah/Masyarakat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13248" y="1170432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Dishub: efisiensi armada &amp; BBM. Masyarakat: waktu tunggu lebih singkat, kenyamanan layanan meningkat.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73152" cy="12984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438912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24128" y="23042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 Prediksi Salah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24128" y="2633472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Under-predict → bus kurang → penumpukan. Over-predict → boros. Data drift tanpa retraining → akurasi turun.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Shape 19"/>
          <p:cNvSpPr/>
          <p:nvPr/>
        </p:nvSpPr>
        <p:spPr>
          <a:xfrm>
            <a:off x="4663440" y="2212848"/>
            <a:ext cx="73152" cy="12984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/>
          <p:nvPr/>
        </p:nvSpPr>
        <p:spPr>
          <a:xfrm>
            <a:off x="4828032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13248" y="23042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Privasi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13248" y="2633472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semua atribut PII (nama, ID kartu). Hanya data agregat anonim. Prinsip Data Minimization diterapkan.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67328"/>
            <a:ext cx="8595360" cy="1024128"/>
          </a:xfrm>
          <a:prstGeom prst="rect">
            <a:avLst/>
          </a:prstGeom>
          <a:solidFill>
            <a:srgbClr val="0A254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6" name="Shape 24"/>
          <p:cNvSpPr/>
          <p:nvPr/>
        </p:nvSpPr>
        <p:spPr>
          <a:xfrm>
            <a:off x="274320" y="3767328"/>
            <a:ext cx="91440" cy="10241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25"/>
          <p:cNvSpPr/>
          <p:nvPr/>
        </p:nvSpPr>
        <p:spPr>
          <a:xfrm>
            <a:off x="502920" y="38039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Kesimpulan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9651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RF Tuned berhasil dikembangkan dari UTS dengan tambahan fitur domain (is_peak_hour, month), outlier removal IQR, 5 algoritma ML, dan tuning GridSearchCV. Implementasi Streamlit lengkap mendukung Smart Mobility melalui prediksi penumpang yang akurat untuk dynamic dispatching armada Transjakarta.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/>
          <p:nvPr/>
        </p:nvSpPr>
        <p:spPr>
          <a:xfrm>
            <a:off x="0" y="49194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D4SIKC.3B  |  Azkia Al Hikam  |  2307033  |  Politeknik Negeri Indramayu  | 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689</Words>
  <Application>Microsoft Office PowerPoint</Application>
  <PresentationFormat>Peragaan Layar (16:9)</PresentationFormat>
  <Paragraphs>179</Paragraphs>
  <Slides>6</Slides>
  <Notes>6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Trebuchet MS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UAS ML — Prediksi Penumpang Transjakarta</dc:title>
  <dc:subject>PptxGenJS Presentation</dc:subject>
  <dc:creator>Azkia Al Hikam</dc:creator>
  <cp:lastModifiedBy>Azkia Al Hikam</cp:lastModifiedBy>
  <cp:revision>2</cp:revision>
  <dcterms:created xsi:type="dcterms:W3CDTF">2026-05-29T08:57:00Z</dcterms:created>
  <dcterms:modified xsi:type="dcterms:W3CDTF">2026-05-30T03:19:29Z</dcterms:modified>
</cp:coreProperties>
</file>